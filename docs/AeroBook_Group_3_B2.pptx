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5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  <p:cmAuthor id="4" name="ASUS" initials="A" lastIdx="1" clrIdx="3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EE2"/>
    <a:srgbClr val="DDFFDD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05" autoAdjust="0"/>
  </p:normalViewPr>
  <p:slideViewPr>
    <p:cSldViewPr snapToGrid="0">
      <p:cViewPr varScale="1">
        <p:scale>
          <a:sx n="93" d="100"/>
          <a:sy n="93" d="100"/>
        </p:scale>
        <p:origin x="101" y="86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630BF-61F5-4B85-976B-B9A18D569E21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20:26:26.6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2142 906 24575,'0'476'0,"3"-454"0,-3-22 0,0 0 0,0 0 0,0 0 0,1 0 0,-1 0 0,0 1 0,0-1 0,0 0 0,0 0 0,1 0 0,-1 0 0,0 0 0,0 0 0,0 0 0,0 0 0,0 0 0,1 0 0,-1 0 0,0 0 0,0 0 0,0 0 0,0 0 0,1 0 0,-1 0 0,0 0 0,0 0 0,0-1 0,0 1 0,0 0 0,1 0 0,-1 0 0,0 0 0,0 0 0,0 0 0,0 0 0,0 0 0,0-1 0,1 1 0,-1 0 0,0 0 0,0 0 0,0 0 0,0 0 0,0-1 0,0 1 0,0 0 0,0 0 0,0 0 0,0 0 0,0-1 0,0 1 0,0 0 0,16-39 0,-12 26 0,11-25 0,-7 13 0,1 0 0,2 0 0,0 0 0,2 2 0,0-1 0,30-37 0,-39 57 0,0 0 0,1 0 0,-1 0 0,1 1 0,-1-1 0,1 1 0,0 0 0,1 1 0,-1-1 0,0 1 0,1 0 0,-1 1 0,1-1 0,0 1 0,-1 0 0,1 0 0,0 1 0,8 0 0,-4 1 0,1 0 0,0 1 0,-1 0 0,1 1 0,-1 0 0,0 1 0,0 0 0,0 0 0,10 7 0,-17-9 0,0 0 0,0 0 0,0 0 0,0 0 0,0 1 0,-1-1 0,1 1 0,-1-1 0,1 1 0,-1 0 0,0 0 0,2 5 0,-3-7 0,-1 0 0,0 0 0,1 0 0,-1 0 0,0 0 0,0 0 0,0 0 0,0 0 0,0 0 0,0 0 0,0 0 0,0 0 0,0 0 0,-1 0 0,1 0 0,0 0 0,-1 0 0,0 1 0,0 0 0,-1 0 0,1 0 0,-1-1 0,1 1 0,-1-1 0,0 1 0,1-1 0,-1 0 0,0 1 0,0-1 0,0 0 0,-2 1 0,-14 4 0,1 0 0,-1 0 0,0-2 0,0 0 0,-26 1 0,-100 1 0,105-6 0,-36-1 0,47-1 0,-56 5 0,80 0 0,11 0 0,30 5 5,1-1-1,44 2 1,4 0-1149,-2 2-1176,92 17-1014,-167-25 3334,-13-1 0,-11-1 0,1-2 0,0 0 0,-1-1 0,1 0 0,-23-7 0,17 4 0,-151-42 1131,142 33 2660,28 14-3760,1 0 0,0 0 1,0 0-1,0 0 1,0 0-1,0 0 0,0 0 1,0-1-1,0 1 0,-1 0 1,1 0-1,0 0 1,0 0-1,0 0 0,0 0 1,0-1-1,0 1 1,0 0-1,0 0 0,0 0 1,0 0-1,0-1 1,0 1-1,0 0 0,0 0 1,0 0-1,0 0 0,0 0 1,0-1-1,0 1 1,0 0-1,0 0 0,0 0 1,0 0-1,1 0 1,-1-1-1,0 1 0,0 0 1,0 0-1,0 0 0,0 0 1,0 0-1,0 0 1,0 0-1,1 0 0,-1-1 1,0 1-1,0 0 1,20-5 292,83-1-324,138 7 0,-128 2 0,38 0 0,-166-1 0,0 1 0,0 0 0,0 1 0,-27 12 0,14-6 0,-41 15 0,42-13 0,0-2 0,-1-1 0,0-1 0,-51 7 0,62-18 0,16 2 0,1 1 0,0 0 0,0-1 0,-1 1 0,1 0 0,0-1 0,0 1 0,0 0 0,0-1 0,-1 1 0,1 0 0,0-1 0,0 1 0,0 0 0,0-1 0,0 1 0,0-1 0,0 1 0,0 0 0,0-1 0,0 1 0,0 0 0,0-1 0,0 1 0,0 0 0,0-1 0,1 1 0,-1-1 0,0 1 0,0 0 0,1-1 0,3-5 0,1 0 0,0 1 0,0 0 0,0 0 0,1 0 0,0 0 0,10-5 0,37-24 0,112-50 0,73-13 0,65-31 0,-284 119 0,33-23 0,-50 31 0,-1 1 0,0-1 0,1 0 0,-1-1 0,0 1 0,0 0 0,0 0 0,0 0 0,0-1 0,0 1 0,0 0 0,0-1 0,0-2 0,-1 4 0,0-1 0,0 1 0,0-1 0,0 1 0,0 0 0,0-1 0,0 1 0,0-1 0,0 1 0,0-1 0,-1 1 0,1-1 0,0 1 0,0-1 0,0 1 0,-1 0 0,1-1 0,0 1 0,-1 0 0,1-1 0,0 1 0,-1 0 0,1-1 0,-1 1 0,1 0 0,0-1 0,-1 1 0,0 0 0,-6-3 0,1 1 0,-1 1 0,1-1 0,-1 1 0,-9-1 0,-98-6-2966,-138 8 0,147 3 2114,-69-1 814,-1571 6-1657,1400-20 1695,82-12-61,231 20-1,1-2 0,0-1 0,-48-18 1,72 22 96,0 0 1,0-1-1,1 0 1,-1 0-1,1 0 1,0-1 0,0 1-1,1-2 1,-7-6-1,9 8 176,0 0-1,0-1 1,0 1-1,1-1 1,0 1-1,0-1 1,0 0-1,0 0 1,1 0-1,0 0 1,-1-6 0,2 0 22,0 0 0,1 0 0,0 0 0,1 0 0,0 0 1,1 0-1,0 1 0,1-1 0,0 1 0,0 0 1,8-12-1,10-17-83,2 1 1,38-46-1,66-64 1976,-65 78-1663,37-33-1723,-79 78-5566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20:26:39.3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932 669 24575,'15'0'0,"0"-1"0,0-1 0,0 0 0,0-1 0,28-10 0,63-35 0,-86 38 0,-16 7 0,1 1 0,-1 0 0,0 0 0,1 1 0,0-1 0,-1 1 0,1 0 0,0 0 0,0 0 0,6 1 0,-9 0 0,0 1 0,0-1 0,0 1 0,0 0 0,-1 0 0,1-1 0,0 1 0,0 1 0,-1-1 0,1 0 0,-1 0 0,1 1 0,-1-1 0,1 1 0,-1-1 0,0 1 0,0 0 0,1-1 0,-1 1 0,-1 0 0,1 0 0,0 0 0,0-1 0,-1 1 0,2 4 0,4 19 0,-1-1 0,-2 1 0,0 0 0,-1 0 0,-2 0 0,0 0 0,-7 43 0,-5-19 0,11-46 0,0-1 0,0 1 0,0 0 0,-1-1 0,1 1 0,0-1 0,-1 1 0,0-1 0,0 0 0,1 0 0,-1 0 0,-1 0 0,1 0 0,-2 2 0,3-4 0,0 0 0,0 1 0,0-1 0,0 0 0,1 0 0,-1 0 0,0 0 0,0 0 0,0 0 0,0 0 0,0 0 0,1-1 0,-1 1 0,0 0 0,0 0 0,0-1 0,0 1 0,1 0 0,-1-1 0,0 1 0,1-1 0,-1 1 0,0-1 0,1 1 0,-1-1 0,0 0 0,1 1 0,-1-1 0,1 0 0,-1 1 0,1-1 0,-1 0 0,1 0 0,0 1 0,-1-1 0,1 0 0,0 0 0,0 0 0,-1-1 0,-9-38 0,7 6 0,2 0 0,1-1 0,2 1 0,8-47 0,35-134 0,-18 124 0,4 0 0,51-104 0,-78 186 0,16-32 0,-19 39 0,0 1 0,0-1 0,0 1 0,-1 0 0,1-1 0,1 1 0,-1 0 0,0-1 0,0 1 0,0 0 0,1 0 0,-1 0 0,0 0 0,1 0 0,-1 1 0,1-1 0,-1 0 0,1 0 0,2 0 0,-3 2 0,0-1 0,0 0 0,0 1 0,0-1 0,0 1 0,0 0 0,-1-1 0,1 1 0,0 0 0,0-1 0,-1 1 0,1 0 0,0 0 0,-1 0 0,1-1 0,-1 1 0,1 0 0,-1 0 0,1 0 0,-1 0 0,0 0 0,1 0 0,-1 0 0,0 0 0,0 2 0,4 12-123,-2 0 0,1 1 1,-2-1-1,0 1 0,-2 24 0,-16 80-1106,9-80 636,-3 0-1,-1-1 1,-33 73-1,11-45-554,-51 77 0,77-133 1246,0 0 0,0 0 1,-1 0-1,-1-1 0,-19 17 0,22-22 103,0-1 1,0 1-1,-1-1 0,1 0 0,-1-1 0,0 0 0,0 0 0,0-1 0,-1 0 0,-13 2 0,-43-1 766,0-3-1,-73-8 1,-8-1-32,-211 8-935,331 0 0,-1-2 0,1-1 0,0-1 0,0-1 0,1-1 0,0-2 0,-25-11 0,44 17 15,1 1 0,-1-1 0,1 0 0,-1 0-1,1-1 1,0 0 0,1 1 0,-1-2 0,1 1 0,0 0-1,0-1 1,0 0 0,0 0 0,1 0 0,0-1 0,0 1 0,0-1-1,1 1 1,0-1 0,0 0 0,0 0 0,-1-7 0,2 3-147,1 0 1,-1-1 0,1 1-1,1 0 1,0-1 0,1 1 0,-1 0-1,2 0 1,0 0 0,0 0 0,1 0-1,5-10 1,30-48-6695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9T20:26:41.8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439 149 24575,'-1'9'0,"0"0"0,-1 0 0,0-1 0,-1 1 0,0-1 0,0 1 0,-1-1 0,0 0 0,-1 0 0,0-1 0,0 1 0,0-1 0,-1 0 0,0 0 0,0-1 0,-1 0 0,-7 6 0,-17 8 0,-1-1 0,0-1 0,-44 17 0,28-14 0,-12 3 0,55-22 0,0-1 0,0 0 0,0 0 0,0 0 0,0-1 0,0 0 0,0 0 0,-1 0 0,-7-2 0,12 2 0,0 0 0,0 0 0,0 0 0,1 0 0,-1-1 0,0 1 0,0 0 0,1 0 0,-1-1 0,0 1 0,0-1 0,1 1 0,-1-1 0,0 1 0,1-1 0,-1 1 0,1-1 0,-1 1 0,1-1 0,-1 0 0,1 1 0,-1-1 0,1 0 0,-1 1 0,1-1 0,0 0 0,0 0 0,-1 1 0,1-1 0,0 0 0,0 0 0,0 1 0,0-3 0,0 1 0,1-1 0,-1 1 0,1 0 0,0-1 0,0 1 0,0 0 0,1-1 0,-1 1 0,0 0 0,4-4 0,7-7 0,0 0 0,1 1 0,0 0 0,1 1 0,19-12 0,81-41 0,-96 54 0,266-130 0,-243 124 0,1 2 0,0 2 0,47-7 0,-11 2 0,-72 16 0,4-2 0,-1 1 0,1 0 0,0 1 0,13 0 0,-20 1 0,-1 0 0,0 0 0,1 0 0,-1 1 0,0-1 0,1 1 0,-1 0 0,0-1 0,0 1 0,0 0 0,0 0 0,0 1 0,0-1 0,0 0 0,0 1 0,0-1 0,0 1 0,-1-1 0,1 1 0,-1 0 0,1 0 0,-1 0 0,2 3 0,2 5 0,-2 1 0,1-1 0,-2 1 0,1-1 0,-1 1 0,-1 0 0,1 19 0,-2 2 0,-6 44 0,3-58 0,-1 0 0,-7 18 0,7-26 0,1 0 0,0 0 0,1 0 0,0 1 0,0-1 0,1 1 0,1-1 0,0 13 0,0-21 0,1 0 0,-1 0 0,1-1 0,-1 1 0,1 0 0,0-1 0,-1 1 0,1-1 0,0 1 0,0-1 0,0 1 0,0-1 0,1 1 0,-1-1 0,0 0 0,0 0 0,1 0 0,-1 0 0,1 0 0,1 1 0,1 0 0,0 0 0,0-1 0,0 0 0,0 0 0,0 0 0,0 0 0,0-1 0,6 0 0,6 0 0,0-2 0,1 0 0,20-5 0,215-71 0,-232 70-170,0 1-1,0 2 0,0 0 1,1 1-1,-1 1 0,1 0 1,21 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395B0-D765-4D24-88BE-D226BBA545B2}" type="datetime1">
              <a:rPr lang="en-US" smtClean="0"/>
              <a:t>7/30/2026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anchor="ctr"/>
          <a:lstStyle>
            <a:lvl1pPr algn="ctr">
              <a:defRPr sz="60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all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none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anchor="ctr"/>
          <a:lstStyle>
            <a:lvl1pPr algn="ctr">
              <a:defRPr sz="48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400" cy="914400"/>
          </a:xfrm>
        </p:spPr>
        <p:txBody>
          <a:bodyPr/>
          <a:lstStyle>
            <a:lvl1pPr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5945"/>
            <a:ext cx="9820656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914400"/>
          </a:xfrm>
        </p:spPr>
        <p:txBody>
          <a:bodyPr/>
          <a:lstStyle>
            <a:lvl1pPr algn="ctr"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746504"/>
            <a:ext cx="9829800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18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/>
          <a:lstStyle>
            <a:lvl1pPr marL="0" indent="0" algn="l">
              <a:buNone/>
              <a:defRPr sz="2000" cap="all" spc="2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anchor="b"/>
          <a:lstStyle>
            <a:lvl1pPr algn="l">
              <a:lnSpc>
                <a:spcPts val="5200"/>
              </a:lnSpc>
              <a:defRPr sz="360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/>
          <a:lstStyle>
            <a:lvl1pPr algn="ctr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/>
          <a:lstStyle>
            <a:lvl1pPr algn="l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anchor="ctr"/>
          <a:lstStyle>
            <a:lvl1pPr marL="0" indent="0" algn="ctr">
              <a:lnSpc>
                <a:spcPts val="2460"/>
              </a:lnSpc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anchor="ctr"/>
          <a:lstStyle>
            <a:lvl1pPr marL="0" indent="0" algn="ctr">
              <a:buNone/>
              <a:defRPr sz="2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BC7BE-FECC-8573-D4F0-FA004B4A0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B0707-D3A6-4BF0-3225-EC3851AD7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E946-135C-E4E8-BA60-64AB48B87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D67329-9F30-BEB7-31E2-FECA7FD59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4" y="987425"/>
            <a:ext cx="612470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3587-0236-046F-3B80-4D4EEA7A8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C67779-9FAD-3FE4-5C67-7E5313C03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4" y="993775"/>
            <a:ext cx="61247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0A4E-ED43-B5A1-F8FE-762E21A3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125545-56D8-5212-AA45-63F7C1DBF1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10F9766-B67A-A34E-2927-9A2D6360F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42952" y="1451496"/>
            <a:ext cx="1784352" cy="1894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cap="all" spc="1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3" r:id="rId12"/>
    <p:sldLayoutId id="2147483671" r:id="rId13"/>
    <p:sldLayoutId id="2147483672" r:id="rId14"/>
    <p:sldLayoutId id="2147483673" r:id="rId15"/>
    <p:sldLayoutId id="2147483654" r:id="rId16"/>
    <p:sldLayoutId id="2147483655" r:id="rId17"/>
    <p:sldLayoutId id="2147483656" r:id="rId18"/>
    <p:sldLayoutId id="2147483657" r:id="rId1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customXml" Target="../ink/ink1.xml"/><Relationship Id="rId12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11" Type="http://schemas.openxmlformats.org/officeDocument/2006/relationships/customXml" Target="../ink/ink3.xml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1ABAB1-E7C7-B822-46EA-FE2779E84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93" y="457200"/>
            <a:ext cx="1207008" cy="1639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4DD043-85C3-04FF-029C-F0F2F0D6F149}"/>
              </a:ext>
            </a:extLst>
          </p:cNvPr>
          <p:cNvSpPr txBox="1"/>
          <p:nvPr/>
        </p:nvSpPr>
        <p:spPr>
          <a:xfrm>
            <a:off x="1245627" y="2144298"/>
            <a:ext cx="9700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Ahsanullah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University of Science and Technology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4C4F0-5179-0050-A616-013304BE3DBD}"/>
              </a:ext>
            </a:extLst>
          </p:cNvPr>
          <p:cNvSpPr txBox="1"/>
          <p:nvPr/>
        </p:nvSpPr>
        <p:spPr>
          <a:xfrm>
            <a:off x="1245627" y="3022569"/>
            <a:ext cx="9700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CSE 3104 Project Proposal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Topic: AeroBook – High-Concurrency Flight Reservation &amp; Fleet Management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A4870F-7A10-1F03-ADC6-2DF94D47E32A}"/>
              </a:ext>
            </a:extLst>
          </p:cNvPr>
          <p:cNvSpPr txBox="1"/>
          <p:nvPr/>
        </p:nvSpPr>
        <p:spPr>
          <a:xfrm>
            <a:off x="1523989" y="3900840"/>
            <a:ext cx="9143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By, 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ID: 20230204084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ID: 20230204118</a:t>
            </a: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Student ID: 20230204106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400" b="1" dirty="0">
                <a:latin typeface="Cambria" panose="02040503050406030204" pitchFamily="18" charset="0"/>
                <a:ea typeface="Cambria" panose="02040503050406030204" pitchFamily="18" charset="0"/>
              </a:rPr>
              <a:t>Overview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F932B9-3231-581B-1EF0-433B8034E7E3}"/>
              </a:ext>
            </a:extLst>
          </p:cNvPr>
          <p:cNvSpPr txBox="1"/>
          <p:nvPr/>
        </p:nvSpPr>
        <p:spPr>
          <a:xfrm>
            <a:off x="1457323" y="1851029"/>
            <a:ext cx="9934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Requirements, Goals &amp; Objectives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Core Functionalities &amp; Features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Entity Relationship Diagram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Development Tools &amp; Platforms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30510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8498-D13D-A16E-4E50-568EB8B9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4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2E68-379C-FA70-A8A1-288A28950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EB2A9-98DE-3B77-73AA-55F0F615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3C97E-09EB-4876-EC07-D09B8DDF3615}"/>
              </a:ext>
            </a:extLst>
          </p:cNvPr>
          <p:cNvSpPr txBox="1"/>
          <p:nvPr/>
        </p:nvSpPr>
        <p:spPr>
          <a:xfrm>
            <a:off x="1457323" y="1741423"/>
            <a:ext cx="102097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AeroBook is an enterprise-grade airline management system built on React.js, Laravel PHP, and MySQL — engineered to solve concurrency, automation, and performance challenges at scale.</a:t>
            </a:r>
          </a:p>
        </p:txBody>
      </p:sp>
      <p:sp>
        <p:nvSpPr>
          <p:cNvPr id="100" name="Circle 0"/>
          <p:cNvSpPr/>
          <p:nvPr/>
        </p:nvSpPr>
        <p:spPr>
          <a:xfrm>
            <a:off x="2358545" y="3020000"/>
            <a:ext cx="750000" cy="7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Ico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545" y="3185000"/>
            <a:ext cx="420000" cy="420000"/>
          </a:xfrm>
          <a:prstGeom prst="rect">
            <a:avLst/>
          </a:prstGeom>
        </p:spPr>
      </p:pic>
      <p:sp>
        <p:nvSpPr>
          <p:cNvPr id="102" name="Label 0"/>
          <p:cNvSpPr txBox="1"/>
          <p:nvPr/>
        </p:nvSpPr>
        <p:spPr>
          <a:xfrm>
            <a:off x="1457323" y="3900000"/>
            <a:ext cx="2552445" cy="6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High-Concurrency Seat</a:t>
            </a:r>
          </a:p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Reservation</a:t>
            </a:r>
          </a:p>
        </p:txBody>
      </p:sp>
      <p:sp>
        <p:nvSpPr>
          <p:cNvPr id="103" name="Circle 1"/>
          <p:cNvSpPr/>
          <p:nvPr/>
        </p:nvSpPr>
        <p:spPr>
          <a:xfrm>
            <a:off x="4910990" y="3020000"/>
            <a:ext cx="750000" cy="7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990" y="3185000"/>
            <a:ext cx="420000" cy="420000"/>
          </a:xfrm>
          <a:prstGeom prst="rect">
            <a:avLst/>
          </a:prstGeom>
        </p:spPr>
      </p:pic>
      <p:sp>
        <p:nvSpPr>
          <p:cNvPr id="105" name="Label 1"/>
          <p:cNvSpPr txBox="1"/>
          <p:nvPr/>
        </p:nvSpPr>
        <p:spPr>
          <a:xfrm>
            <a:off x="4009768" y="3900000"/>
            <a:ext cx="2552445" cy="6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Automated Fleet</a:t>
            </a:r>
          </a:p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Maintenance</a:t>
            </a:r>
          </a:p>
        </p:txBody>
      </p:sp>
      <p:sp>
        <p:nvSpPr>
          <p:cNvPr id="106" name="Circle 2"/>
          <p:cNvSpPr/>
          <p:nvPr/>
        </p:nvSpPr>
        <p:spPr>
          <a:xfrm>
            <a:off x="7463435" y="3020000"/>
            <a:ext cx="750000" cy="7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7" name="Ic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8435" y="3185000"/>
            <a:ext cx="420000" cy="420000"/>
          </a:xfrm>
          <a:prstGeom prst="rect">
            <a:avLst/>
          </a:prstGeom>
        </p:spPr>
      </p:pic>
      <p:sp>
        <p:nvSpPr>
          <p:cNvPr id="108" name="Label 2"/>
          <p:cNvSpPr txBox="1"/>
          <p:nvPr/>
        </p:nvSpPr>
        <p:spPr>
          <a:xfrm>
            <a:off x="6562213" y="3900000"/>
            <a:ext cx="2552445" cy="6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High-Performance</a:t>
            </a:r>
          </a:p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Analytics</a:t>
            </a:r>
          </a:p>
        </p:txBody>
      </p:sp>
      <p:sp>
        <p:nvSpPr>
          <p:cNvPr id="109" name="Circle 3"/>
          <p:cNvSpPr/>
          <p:nvPr/>
        </p:nvSpPr>
        <p:spPr>
          <a:xfrm>
            <a:off x="10015880" y="3020000"/>
            <a:ext cx="750000" cy="7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0" name="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880" y="3185000"/>
            <a:ext cx="420000" cy="420000"/>
          </a:xfrm>
          <a:prstGeom prst="rect">
            <a:avLst/>
          </a:prstGeom>
        </p:spPr>
      </p:pic>
      <p:sp>
        <p:nvSpPr>
          <p:cNvPr id="111" name="Label 3"/>
          <p:cNvSpPr txBox="1"/>
          <p:nvPr/>
        </p:nvSpPr>
        <p:spPr>
          <a:xfrm>
            <a:off x="9114658" y="3900000"/>
            <a:ext cx="2552445" cy="6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Full-Stack</a:t>
            </a:r>
          </a:p>
          <a:p>
            <a:pPr algn="ctr"/>
            <a:r>
              <a:rPr lang="en-US" sz="13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341104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</a:p>
        </p:txBody>
      </p:sp>
      <p:sp>
        <p:nvSpPr>
          <p:cNvPr id="11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4</a:t>
            </a:fld>
            <a:endParaRPr lang="en-US"/>
          </a:p>
        </p:txBody>
      </p:sp>
      <p:pic>
        <p:nvPicPr>
          <p:cNvPr id="12" name="Pictur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13" name="Lead"/>
          <p:cNvSpPr txBox="1"/>
          <p:nvPr/>
        </p:nvSpPr>
        <p:spPr>
          <a:xfrm>
            <a:off x="1457323" y="1741423"/>
            <a:ext cx="10209783" cy="620000"/>
          </a:xfrm>
          <a:prstGeom prst="rect">
            <a:avLst/>
          </a:prstGeom>
          <a:noFill/>
        </p:spPr>
        <p:txBody>
          <a:bodyPr wrap="square"/>
          <a:lstStyle/>
          <a:p>
            <a:pPr algn="just"/>
            <a:r>
              <a:rPr lang="en-US" sz="2000" b="1" dirty="0">
                <a:solidFill>
                  <a:srgbClr val="0989B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 problems demand a database-centric, automated solution for airline operations.</a:t>
            </a:r>
          </a:p>
        </p:txBody>
      </p:sp>
      <p:sp>
        <p:nvSpPr>
          <p:cNvPr id="14" name="Card 0"/>
          <p:cNvSpPr/>
          <p:nvPr/>
        </p:nvSpPr>
        <p:spPr>
          <a:xfrm>
            <a:off x="1457323" y="2500000"/>
            <a:ext cx="4954891" cy="1350000"/>
          </a:xfrm>
          <a:prstGeom prst="roundRect">
            <a:avLst/>
          </a:prstGeom>
          <a:solidFill>
            <a:srgbClr val="EAF3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Num 0"/>
          <p:cNvSpPr txBox="1"/>
          <p:nvPr/>
        </p:nvSpPr>
        <p:spPr>
          <a:xfrm>
            <a:off x="1457323" y="2800000"/>
            <a:ext cx="1050000" cy="7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3200" b="1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</a:p>
        </p:txBody>
      </p:sp>
      <p:sp>
        <p:nvSpPr>
          <p:cNvPr id="16" name="Desc 0"/>
          <p:cNvSpPr txBox="1"/>
          <p:nvPr/>
        </p:nvSpPr>
        <p:spPr>
          <a:xfrm>
            <a:off x="2607323" y="2500000"/>
            <a:ext cx="3654891" cy="1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Race conditions causing double-bookings during peak seat reservations</a:t>
            </a:r>
          </a:p>
        </p:txBody>
      </p:sp>
      <p:sp>
        <p:nvSpPr>
          <p:cNvPr id="17" name="Card 1"/>
          <p:cNvSpPr/>
          <p:nvPr/>
        </p:nvSpPr>
        <p:spPr>
          <a:xfrm>
            <a:off x="6712214" y="2500000"/>
            <a:ext cx="4954891" cy="1350000"/>
          </a:xfrm>
          <a:prstGeom prst="roundRect">
            <a:avLst/>
          </a:prstGeom>
          <a:solidFill>
            <a:srgbClr val="EAF3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Num 1"/>
          <p:cNvSpPr txBox="1"/>
          <p:nvPr/>
        </p:nvSpPr>
        <p:spPr>
          <a:xfrm>
            <a:off x="6712214" y="2800000"/>
            <a:ext cx="1050000" cy="7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3200" b="1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</a:p>
        </p:txBody>
      </p:sp>
      <p:sp>
        <p:nvSpPr>
          <p:cNvPr id="19" name="Desc 1"/>
          <p:cNvSpPr txBox="1"/>
          <p:nvPr/>
        </p:nvSpPr>
        <p:spPr>
          <a:xfrm>
            <a:off x="7862214" y="2500000"/>
            <a:ext cx="3654891" cy="1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Human errors in manual aircraft maintenance tracking risking safety</a:t>
            </a:r>
          </a:p>
        </p:txBody>
      </p:sp>
      <p:sp>
        <p:nvSpPr>
          <p:cNvPr id="20" name="Card 2"/>
          <p:cNvSpPr/>
          <p:nvPr/>
        </p:nvSpPr>
        <p:spPr>
          <a:xfrm>
            <a:off x="1457323" y="4110000"/>
            <a:ext cx="4954891" cy="1350000"/>
          </a:xfrm>
          <a:prstGeom prst="roundRect">
            <a:avLst/>
          </a:prstGeom>
          <a:solidFill>
            <a:srgbClr val="EAF3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um 2"/>
          <p:cNvSpPr txBox="1"/>
          <p:nvPr/>
        </p:nvSpPr>
        <p:spPr>
          <a:xfrm>
            <a:off x="1457323" y="4410000"/>
            <a:ext cx="1050000" cy="7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3200" b="1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</a:p>
        </p:txBody>
      </p:sp>
      <p:sp>
        <p:nvSpPr>
          <p:cNvPr id="22" name="Desc 2"/>
          <p:cNvSpPr txBox="1"/>
          <p:nvPr/>
        </p:nvSpPr>
        <p:spPr>
          <a:xfrm>
            <a:off x="2607323" y="4110000"/>
            <a:ext cx="3654891" cy="1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Backend bottlenecks from heavy data aggregation slowing performance</a:t>
            </a:r>
          </a:p>
        </p:txBody>
      </p:sp>
      <p:sp>
        <p:nvSpPr>
          <p:cNvPr id="23" name="Card 3"/>
          <p:cNvSpPr/>
          <p:nvPr/>
        </p:nvSpPr>
        <p:spPr>
          <a:xfrm>
            <a:off x="6712214" y="4110000"/>
            <a:ext cx="4954891" cy="1350000"/>
          </a:xfrm>
          <a:prstGeom prst="roundRect">
            <a:avLst/>
          </a:prstGeom>
          <a:solidFill>
            <a:srgbClr val="EAF3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um 3"/>
          <p:cNvSpPr txBox="1"/>
          <p:nvPr/>
        </p:nvSpPr>
        <p:spPr>
          <a:xfrm>
            <a:off x="6712214" y="4410000"/>
            <a:ext cx="1050000" cy="7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3200" b="1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04</a:t>
            </a:r>
          </a:p>
        </p:txBody>
      </p:sp>
      <p:sp>
        <p:nvSpPr>
          <p:cNvPr id="25" name="Desc 3"/>
          <p:cNvSpPr txBox="1"/>
          <p:nvPr/>
        </p:nvSpPr>
        <p:spPr>
          <a:xfrm>
            <a:off x="7862214" y="4110000"/>
            <a:ext cx="3654891" cy="13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Need for ACID-compliant, automated database-centric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57323" y="597814"/>
            <a:ext cx="10420351" cy="770792"/>
          </a:xfrm>
        </p:spPr>
        <p:txBody>
          <a:bodyPr/>
          <a:lstStyle/>
          <a:p>
            <a:pPr algn="just"/>
            <a:r>
              <a:rPr lang="en-US" sz="32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Requirements, Goals &amp; Objectives</a:t>
            </a:r>
          </a:p>
        </p:txBody>
      </p:sp>
      <p:sp>
        <p:nvSpPr>
          <p:cNvPr id="11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5</a:t>
            </a:fld>
            <a:endParaRPr lang="en-US"/>
          </a:p>
        </p:txBody>
      </p:sp>
      <p:pic>
        <p:nvPicPr>
          <p:cNvPr id="12" name="Pictur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85969"/>
            <a:ext cx="689804" cy="937158"/>
          </a:xfrm>
          <a:prstGeom prst="rect">
            <a:avLst/>
          </a:prstGeom>
        </p:spPr>
      </p:pic>
      <p:sp>
        <p:nvSpPr>
          <p:cNvPr id="13" name="NumCircle 0"/>
          <p:cNvSpPr/>
          <p:nvPr/>
        </p:nvSpPr>
        <p:spPr>
          <a:xfrm>
            <a:off x="1457323" y="20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um 0"/>
          <p:cNvSpPr txBox="1"/>
          <p:nvPr/>
        </p:nvSpPr>
        <p:spPr>
          <a:xfrm>
            <a:off x="1457323" y="20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</a:p>
        </p:txBody>
      </p:sp>
      <p:sp>
        <p:nvSpPr>
          <p:cNvPr id="15" name="Desc 0"/>
          <p:cNvSpPr txBox="1"/>
          <p:nvPr/>
        </p:nvSpPr>
        <p:spPr>
          <a:xfrm>
            <a:off x="2207323" y="1880000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Passenger registration &amp; frequent flyer tracking</a:t>
            </a:r>
          </a:p>
        </p:txBody>
      </p:sp>
      <p:sp>
        <p:nvSpPr>
          <p:cNvPr id="16" name="NumCircle 1"/>
          <p:cNvSpPr/>
          <p:nvPr/>
        </p:nvSpPr>
        <p:spPr>
          <a:xfrm>
            <a:off x="1457323" y="31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Num 1"/>
          <p:cNvSpPr txBox="1"/>
          <p:nvPr/>
        </p:nvSpPr>
        <p:spPr>
          <a:xfrm>
            <a:off x="1457323" y="31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</a:p>
        </p:txBody>
      </p:sp>
      <p:sp>
        <p:nvSpPr>
          <p:cNvPr id="18" name="Desc 1"/>
          <p:cNvSpPr txBox="1"/>
          <p:nvPr/>
        </p:nvSpPr>
        <p:spPr>
          <a:xfrm>
            <a:off x="2232842" y="5291324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Flight schedule &amp; aircraft assignment management</a:t>
            </a:r>
          </a:p>
        </p:txBody>
      </p:sp>
      <p:sp>
        <p:nvSpPr>
          <p:cNvPr id="19" name="NumCircle 2"/>
          <p:cNvSpPr/>
          <p:nvPr/>
        </p:nvSpPr>
        <p:spPr>
          <a:xfrm>
            <a:off x="1457323" y="42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Num 2"/>
          <p:cNvSpPr txBox="1"/>
          <p:nvPr/>
        </p:nvSpPr>
        <p:spPr>
          <a:xfrm>
            <a:off x="1457323" y="42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</a:p>
        </p:txBody>
      </p:sp>
      <p:sp>
        <p:nvSpPr>
          <p:cNvPr id="21" name="Desc 2"/>
          <p:cNvSpPr txBox="1"/>
          <p:nvPr/>
        </p:nvSpPr>
        <p:spPr>
          <a:xfrm>
            <a:off x="2232842" y="2980000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Real-time dynamic seat availability display</a:t>
            </a:r>
          </a:p>
        </p:txBody>
      </p:sp>
      <p:sp>
        <p:nvSpPr>
          <p:cNvPr id="22" name="NumCircle 3"/>
          <p:cNvSpPr/>
          <p:nvPr/>
        </p:nvSpPr>
        <p:spPr>
          <a:xfrm>
            <a:off x="1457323" y="53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um 3"/>
          <p:cNvSpPr txBox="1"/>
          <p:nvPr/>
        </p:nvSpPr>
        <p:spPr>
          <a:xfrm>
            <a:off x="1457323" y="53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04</a:t>
            </a:r>
          </a:p>
        </p:txBody>
      </p:sp>
      <p:sp>
        <p:nvSpPr>
          <p:cNvPr id="24" name="Desc 3"/>
          <p:cNvSpPr txBox="1"/>
          <p:nvPr/>
        </p:nvSpPr>
        <p:spPr>
          <a:xfrm>
            <a:off x="2232842" y="4105000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Automated payment &amp; booking status updates</a:t>
            </a:r>
          </a:p>
        </p:txBody>
      </p:sp>
      <p:sp>
        <p:nvSpPr>
          <p:cNvPr id="25" name="NumCircle 4"/>
          <p:cNvSpPr/>
          <p:nvPr/>
        </p:nvSpPr>
        <p:spPr>
          <a:xfrm>
            <a:off x="6812214" y="20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Num 4"/>
          <p:cNvSpPr txBox="1"/>
          <p:nvPr/>
        </p:nvSpPr>
        <p:spPr>
          <a:xfrm>
            <a:off x="6812214" y="20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05</a:t>
            </a:r>
          </a:p>
        </p:txBody>
      </p:sp>
      <p:sp>
        <p:nvSpPr>
          <p:cNvPr id="27" name="Desc 4"/>
          <p:cNvSpPr txBox="1"/>
          <p:nvPr/>
        </p:nvSpPr>
        <p:spPr>
          <a:xfrm>
            <a:off x="7562214" y="1880000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Fleet health tracking via cumulative flight hours</a:t>
            </a:r>
          </a:p>
        </p:txBody>
      </p:sp>
      <p:sp>
        <p:nvSpPr>
          <p:cNvPr id="28" name="NumCircle 5"/>
          <p:cNvSpPr/>
          <p:nvPr/>
        </p:nvSpPr>
        <p:spPr>
          <a:xfrm>
            <a:off x="6812214" y="31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Num 5"/>
          <p:cNvSpPr txBox="1"/>
          <p:nvPr/>
        </p:nvSpPr>
        <p:spPr>
          <a:xfrm>
            <a:off x="6812214" y="31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06</a:t>
            </a:r>
          </a:p>
        </p:txBody>
      </p:sp>
      <p:sp>
        <p:nvSpPr>
          <p:cNvPr id="30" name="Desc 5"/>
          <p:cNvSpPr txBox="1"/>
          <p:nvPr/>
        </p:nvSpPr>
        <p:spPr>
          <a:xfrm>
            <a:off x="7562214" y="2980000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Zero double-booking via transaction isolation</a:t>
            </a:r>
          </a:p>
        </p:txBody>
      </p:sp>
      <p:sp>
        <p:nvSpPr>
          <p:cNvPr id="31" name="NumCircle 6"/>
          <p:cNvSpPr/>
          <p:nvPr/>
        </p:nvSpPr>
        <p:spPr>
          <a:xfrm>
            <a:off x="6812214" y="42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Num 6"/>
          <p:cNvSpPr txBox="1"/>
          <p:nvPr/>
        </p:nvSpPr>
        <p:spPr>
          <a:xfrm>
            <a:off x="6812214" y="42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07</a:t>
            </a:r>
          </a:p>
        </p:txBody>
      </p:sp>
      <p:sp>
        <p:nvSpPr>
          <p:cNvPr id="33" name="Desc 6"/>
          <p:cNvSpPr txBox="1"/>
          <p:nvPr/>
        </p:nvSpPr>
        <p:spPr>
          <a:xfrm>
            <a:off x="7562214" y="4080000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3NF schema &amp; automated maintenance logs</a:t>
            </a:r>
          </a:p>
        </p:txBody>
      </p:sp>
      <p:sp>
        <p:nvSpPr>
          <p:cNvPr id="34" name="NumCircle 7"/>
          <p:cNvSpPr/>
          <p:nvPr/>
        </p:nvSpPr>
        <p:spPr>
          <a:xfrm>
            <a:off x="6812214" y="5380000"/>
            <a:ext cx="550000" cy="5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Num 7"/>
          <p:cNvSpPr txBox="1"/>
          <p:nvPr/>
        </p:nvSpPr>
        <p:spPr>
          <a:xfrm>
            <a:off x="6812214" y="5380000"/>
            <a:ext cx="550000" cy="5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08</a:t>
            </a:r>
          </a:p>
        </p:txBody>
      </p:sp>
      <p:sp>
        <p:nvSpPr>
          <p:cNvPr id="36" name="Desc 7"/>
          <p:cNvSpPr txBox="1"/>
          <p:nvPr/>
        </p:nvSpPr>
        <p:spPr>
          <a:xfrm>
            <a:off x="7562214" y="5180000"/>
            <a:ext cx="4104891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Sub-millisecond occupancy &amp; revenue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nel BG"/>
          <p:cNvSpPr/>
          <p:nvPr/>
        </p:nvSpPr>
        <p:spPr>
          <a:xfrm>
            <a:off x="5782962" y="25276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1" name="Pictur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00000"/>
            <a:ext cx="689804" cy="937158"/>
          </a:xfrm>
          <a:prstGeom prst="rect">
            <a:avLst/>
          </a:prstGeom>
        </p:spPr>
      </p:pic>
      <p:sp>
        <p:nvSpPr>
          <p:cNvPr id="12" name="Hero Circle"/>
          <p:cNvSpPr/>
          <p:nvPr/>
        </p:nvSpPr>
        <p:spPr>
          <a:xfrm>
            <a:off x="1055483" y="2587752"/>
            <a:ext cx="3200400" cy="32004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Hero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683" y="3422968"/>
            <a:ext cx="1400000" cy="1400000"/>
          </a:xfrm>
          <a:prstGeom prst="rect">
            <a:avLst/>
          </a:prstGeom>
        </p:spPr>
      </p:pic>
      <p:sp>
        <p:nvSpPr>
          <p:cNvPr id="14" name="Title"/>
          <p:cNvSpPr txBox="1"/>
          <p:nvPr/>
        </p:nvSpPr>
        <p:spPr>
          <a:xfrm>
            <a:off x="1213104" y="237158"/>
            <a:ext cx="416052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Core Functionalities &amp; Features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20624" y="6019801"/>
            <a:ext cx="457200" cy="184150"/>
          </a:xfrm>
        </p:spPr>
        <p:txBody>
          <a:bodyPr/>
          <a:lstStyle/>
          <a:p>
            <a:fld id="{75DF2D63-3FF5-D547-96B9-BE9CCD1ABA58}" type="slidenum">
              <a:rPr lang="en-US" smtClean="0"/>
              <a:t>6</a:t>
            </a:fld>
            <a:endParaRPr lang="en-US"/>
          </a:p>
        </p:txBody>
      </p:sp>
      <p:sp>
        <p:nvSpPr>
          <p:cNvPr id="16" name="FeatIconCircle0"/>
          <p:cNvSpPr/>
          <p:nvPr/>
        </p:nvSpPr>
        <p:spPr>
          <a:xfrm>
            <a:off x="6245352" y="704088"/>
            <a:ext cx="914400" cy="9144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7" name="FeatIcon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552" y="901288"/>
            <a:ext cx="520000" cy="520000"/>
          </a:xfrm>
          <a:prstGeom prst="rect">
            <a:avLst/>
          </a:prstGeom>
        </p:spPr>
      </p:pic>
      <p:sp>
        <p:nvSpPr>
          <p:cNvPr id="18" name="FeatHead0"/>
          <p:cNvSpPr txBox="1"/>
          <p:nvPr/>
        </p:nvSpPr>
        <p:spPr>
          <a:xfrm>
            <a:off x="7498080" y="621792"/>
            <a:ext cx="41148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8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Concurrency Control</a:t>
            </a:r>
          </a:p>
        </p:txBody>
      </p:sp>
      <p:sp>
        <p:nvSpPr>
          <p:cNvPr id="20" name="FeatIconCircle1"/>
          <p:cNvSpPr/>
          <p:nvPr/>
        </p:nvSpPr>
        <p:spPr>
          <a:xfrm>
            <a:off x="6237883" y="2997076"/>
            <a:ext cx="914400" cy="9144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1" name="FeatIcon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054" y="3194276"/>
            <a:ext cx="520000" cy="520000"/>
          </a:xfrm>
          <a:prstGeom prst="rect">
            <a:avLst/>
          </a:prstGeom>
        </p:spPr>
      </p:pic>
      <p:sp>
        <p:nvSpPr>
          <p:cNvPr id="22" name="FeatHead1"/>
          <p:cNvSpPr txBox="1"/>
          <p:nvPr/>
        </p:nvSpPr>
        <p:spPr>
          <a:xfrm>
            <a:off x="7498080" y="2894807"/>
            <a:ext cx="41148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8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Automated Fleet Maintenance</a:t>
            </a:r>
          </a:p>
        </p:txBody>
      </p:sp>
      <p:sp>
        <p:nvSpPr>
          <p:cNvPr id="24" name="FeatIconCircle2"/>
          <p:cNvSpPr/>
          <p:nvPr/>
        </p:nvSpPr>
        <p:spPr>
          <a:xfrm>
            <a:off x="6245352" y="5166360"/>
            <a:ext cx="914400" cy="9144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5" name="FeatIcon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2552" y="5363560"/>
            <a:ext cx="520000" cy="520000"/>
          </a:xfrm>
          <a:prstGeom prst="rect">
            <a:avLst/>
          </a:prstGeom>
        </p:spPr>
      </p:pic>
      <p:sp>
        <p:nvSpPr>
          <p:cNvPr id="26" name="FeatHead2"/>
          <p:cNvSpPr txBox="1"/>
          <p:nvPr/>
        </p:nvSpPr>
        <p:spPr>
          <a:xfrm>
            <a:off x="7498080" y="5129784"/>
            <a:ext cx="41148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18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Stored Procedure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2487A-EB69-4F39-9C27-7507CC3E5E34}"/>
              </a:ext>
            </a:extLst>
          </p:cNvPr>
          <p:cNvSpPr txBox="1"/>
          <p:nvPr/>
        </p:nvSpPr>
        <p:spPr>
          <a:xfrm>
            <a:off x="7294784" y="1143419"/>
            <a:ext cx="4538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MySQL FOR UPDATE row-level locking prevents race conditions and eliminates double-booking during peak reservations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43CD8-DF82-BC57-0065-4EA7FCC343D3}"/>
              </a:ext>
            </a:extLst>
          </p:cNvPr>
          <p:cNvSpPr txBox="1"/>
          <p:nvPr/>
        </p:nvSpPr>
        <p:spPr>
          <a:xfrm>
            <a:off x="7282427" y="3415234"/>
            <a:ext cx="5680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MySQL AFTER UPDATE triggers fire on flight completion, updating cumulative flight hours and auto-generating maintenance log entries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CF9F8-2405-1DC0-9904-DA463DD99C8F}"/>
              </a:ext>
            </a:extLst>
          </p:cNvPr>
          <p:cNvSpPr txBox="1"/>
          <p:nvPr/>
        </p:nvSpPr>
        <p:spPr>
          <a:xfrm>
            <a:off x="7314211" y="5650211"/>
            <a:ext cx="4723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MySQL stored procedures aggregate occupancy rates and revenue data, enabling sub-millisecond reporting integrated with the React UI.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BACBE0-CA45-46E1-D17A-10DDDF9450A9}"/>
                  </a:ext>
                </a:extLst>
              </p14:cNvPr>
              <p14:cNvContentPartPr/>
              <p14:nvPr/>
            </p14:nvContentPartPr>
            <p14:xfrm>
              <a:off x="785666" y="5720439"/>
              <a:ext cx="1196640" cy="506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BACBE0-CA45-46E1-D17A-10DDDF9450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9546" y="5714319"/>
                <a:ext cx="1208880" cy="51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4A690DB-284F-FBA1-CDB6-2FED5FD91DE0}"/>
              </a:ext>
            </a:extLst>
          </p:cNvPr>
          <p:cNvGrpSpPr/>
          <p:nvPr/>
        </p:nvGrpSpPr>
        <p:grpSpPr>
          <a:xfrm>
            <a:off x="1040186" y="5984679"/>
            <a:ext cx="759960" cy="341280"/>
            <a:chOff x="1040186" y="5984679"/>
            <a:chExt cx="75996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4D44729-4701-A313-738B-5D97B9E8EC41}"/>
                    </a:ext>
                  </a:extLst>
                </p14:cNvPr>
                <p14:cNvContentPartPr/>
                <p14:nvPr/>
              </p14:nvContentPartPr>
              <p14:xfrm>
                <a:off x="1040186" y="5986839"/>
                <a:ext cx="532440" cy="339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4D44729-4701-A313-738B-5D97B9E8EC4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7186" y="5923839"/>
                  <a:ext cx="6580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C09DAE-67B1-1686-4FBE-18AB6B70D3F2}"/>
                    </a:ext>
                  </a:extLst>
                </p14:cNvPr>
                <p14:cNvContentPartPr/>
                <p14:nvPr/>
              </p14:nvContentPartPr>
              <p14:xfrm>
                <a:off x="1258706" y="5984679"/>
                <a:ext cx="541440" cy="165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C09DAE-67B1-1686-4FBE-18AB6B70D3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6066" y="5922039"/>
                  <a:ext cx="667080" cy="291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00000"/>
            <a:ext cx="689804" cy="937158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1554480" y="250466"/>
            <a:ext cx="3932237" cy="1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 Diagram</a:t>
            </a:r>
          </a:p>
        </p:txBody>
      </p:sp>
      <p:sp>
        <p:nvSpPr>
          <p:cNvPr id="27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20624" y="6019801"/>
            <a:ext cx="457200" cy="184150"/>
          </a:xfrm>
        </p:spPr>
        <p:txBody>
          <a:bodyPr/>
          <a:lstStyle/>
          <a:p>
            <a:fld id="{75DF2D63-3FF5-D547-96B9-BE9CCD1ABA58}" type="slidenum">
              <a:rPr lang="en-US" smtClean="0"/>
              <a:t>7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0D59484-56FC-54FE-B0C5-F51EC62AC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528" y="1584244"/>
            <a:ext cx="10711195" cy="51872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00000"/>
            <a:ext cx="689804" cy="937158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1085088" y="609600"/>
            <a:ext cx="10021824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Development Tools &amp; Platforms</a:t>
            </a:r>
          </a:p>
        </p:txBody>
      </p:sp>
      <p:sp>
        <p:nvSpPr>
          <p:cNvPr id="13" name="Head0"/>
          <p:cNvSpPr txBox="1"/>
          <p:nvPr/>
        </p:nvSpPr>
        <p:spPr>
          <a:xfrm>
            <a:off x="1235088" y="3218001"/>
            <a:ext cx="1884364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"/>
              </a:lnSpc>
            </a:pPr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</a:p>
        </p:txBody>
      </p:sp>
      <p:sp>
        <p:nvSpPr>
          <p:cNvPr id="16" name="IconCircle0"/>
          <p:cNvSpPr/>
          <p:nvPr/>
        </p:nvSpPr>
        <p:spPr>
          <a:xfrm>
            <a:off x="1702270" y="5150000"/>
            <a:ext cx="650000" cy="6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270" y="5295000"/>
            <a:ext cx="360000" cy="360000"/>
          </a:xfrm>
          <a:prstGeom prst="rect">
            <a:avLst/>
          </a:prstGeom>
        </p:spPr>
      </p:pic>
      <p:cxnSp>
        <p:nvCxnSpPr>
          <p:cNvPr id="18" name="Div0"/>
          <p:cNvCxnSpPr/>
          <p:nvPr/>
        </p:nvCxnSpPr>
        <p:spPr>
          <a:xfrm>
            <a:off x="3044452" y="2450000"/>
            <a:ext cx="0" cy="335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9" name="Head1"/>
          <p:cNvSpPr txBox="1"/>
          <p:nvPr/>
        </p:nvSpPr>
        <p:spPr>
          <a:xfrm>
            <a:off x="3269451" y="3218001"/>
            <a:ext cx="1884364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"/>
              </a:lnSpc>
            </a:pPr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BACKEND</a:t>
            </a:r>
          </a:p>
        </p:txBody>
      </p:sp>
      <p:sp>
        <p:nvSpPr>
          <p:cNvPr id="22" name="IconCircle1"/>
          <p:cNvSpPr/>
          <p:nvPr/>
        </p:nvSpPr>
        <p:spPr>
          <a:xfrm>
            <a:off x="3736634" y="5150000"/>
            <a:ext cx="650000" cy="6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con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34" y="5295000"/>
            <a:ext cx="360000" cy="360000"/>
          </a:xfrm>
          <a:prstGeom prst="rect">
            <a:avLst/>
          </a:prstGeom>
        </p:spPr>
      </p:pic>
      <p:cxnSp>
        <p:nvCxnSpPr>
          <p:cNvPr id="24" name="Div1"/>
          <p:cNvCxnSpPr/>
          <p:nvPr/>
        </p:nvCxnSpPr>
        <p:spPr>
          <a:xfrm>
            <a:off x="5078816" y="2450000"/>
            <a:ext cx="0" cy="335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5" name="Head2"/>
          <p:cNvSpPr txBox="1"/>
          <p:nvPr/>
        </p:nvSpPr>
        <p:spPr>
          <a:xfrm>
            <a:off x="5387826" y="3218001"/>
            <a:ext cx="1884364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"/>
              </a:lnSpc>
            </a:pPr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</a:p>
        </p:txBody>
      </p:sp>
      <p:sp>
        <p:nvSpPr>
          <p:cNvPr id="28" name="IconCircle2"/>
          <p:cNvSpPr/>
          <p:nvPr/>
        </p:nvSpPr>
        <p:spPr>
          <a:xfrm>
            <a:off x="5770998" y="5150000"/>
            <a:ext cx="650000" cy="6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con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98" y="5295000"/>
            <a:ext cx="360000" cy="360000"/>
          </a:xfrm>
          <a:prstGeom prst="rect">
            <a:avLst/>
          </a:prstGeom>
        </p:spPr>
      </p:pic>
      <p:cxnSp>
        <p:nvCxnSpPr>
          <p:cNvPr id="30" name="Div2"/>
          <p:cNvCxnSpPr/>
          <p:nvPr/>
        </p:nvCxnSpPr>
        <p:spPr>
          <a:xfrm>
            <a:off x="7113180" y="2450000"/>
            <a:ext cx="0" cy="335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1" name="Head3"/>
          <p:cNvSpPr txBox="1"/>
          <p:nvPr/>
        </p:nvSpPr>
        <p:spPr>
          <a:xfrm>
            <a:off x="7422189" y="3218001"/>
            <a:ext cx="1884364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"/>
              </a:lnSpc>
            </a:pPr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STYLING</a:t>
            </a:r>
          </a:p>
        </p:txBody>
      </p:sp>
      <p:sp>
        <p:nvSpPr>
          <p:cNvPr id="34" name="IconCircle3"/>
          <p:cNvSpPr/>
          <p:nvPr/>
        </p:nvSpPr>
        <p:spPr>
          <a:xfrm>
            <a:off x="7805362" y="5150000"/>
            <a:ext cx="650000" cy="6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con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362" y="5295000"/>
            <a:ext cx="360000" cy="360000"/>
          </a:xfrm>
          <a:prstGeom prst="rect">
            <a:avLst/>
          </a:prstGeom>
        </p:spPr>
      </p:pic>
      <p:cxnSp>
        <p:nvCxnSpPr>
          <p:cNvPr id="36" name="Div3"/>
          <p:cNvCxnSpPr/>
          <p:nvPr/>
        </p:nvCxnSpPr>
        <p:spPr>
          <a:xfrm>
            <a:off x="9147544" y="2450000"/>
            <a:ext cx="0" cy="335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7" name="Head4"/>
          <p:cNvSpPr txBox="1"/>
          <p:nvPr/>
        </p:nvSpPr>
        <p:spPr>
          <a:xfrm>
            <a:off x="9547544" y="3218001"/>
            <a:ext cx="1884364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"/>
              </a:lnSpc>
            </a:pPr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TESTING &amp; VCS</a:t>
            </a:r>
          </a:p>
        </p:txBody>
      </p:sp>
      <p:sp>
        <p:nvSpPr>
          <p:cNvPr id="40" name="IconCircle4"/>
          <p:cNvSpPr/>
          <p:nvPr/>
        </p:nvSpPr>
        <p:spPr>
          <a:xfrm>
            <a:off x="9839726" y="5150000"/>
            <a:ext cx="650000" cy="65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con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4726" y="5295000"/>
            <a:ext cx="360000" cy="360000"/>
          </a:xfrm>
          <a:prstGeom prst="rect">
            <a:avLst/>
          </a:prstGeom>
        </p:spPr>
      </p:pic>
      <p:sp>
        <p:nvSpPr>
          <p:cNvPr id="42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20624" y="6019801"/>
            <a:ext cx="457200" cy="184150"/>
          </a:xfrm>
        </p:spPr>
        <p:txBody>
          <a:bodyPr/>
          <a:lstStyle/>
          <a:p>
            <a:fld id="{75DF2D63-3FF5-D547-96B9-BE9CCD1ABA58}" type="slidenum">
              <a:rPr lang="en-US" smtClean="0"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C72621-DC23-BF91-8C2E-A98DCBED8F19}"/>
              </a:ext>
            </a:extLst>
          </p:cNvPr>
          <p:cNvSpPr txBox="1"/>
          <p:nvPr/>
        </p:nvSpPr>
        <p:spPr>
          <a:xfrm>
            <a:off x="1197614" y="3634799"/>
            <a:ext cx="74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MySQL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366C7-EB6E-C0B9-44D2-60B7C7FA7094}"/>
              </a:ext>
            </a:extLst>
          </p:cNvPr>
          <p:cNvSpPr txBox="1"/>
          <p:nvPr/>
        </p:nvSpPr>
        <p:spPr>
          <a:xfrm>
            <a:off x="3077933" y="3612672"/>
            <a:ext cx="2480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Laravel PHP </a:t>
            </a:r>
            <a:r>
              <a:rPr lang="en-US" dirty="0" err="1"/>
              <a:t>migtions</a:t>
            </a:r>
            <a:r>
              <a:rPr lang="en-US" dirty="0"/>
              <a:t>, REST API, transaction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C0A8C-6634-C040-7C6B-4DFAEE5A62CD}"/>
              </a:ext>
            </a:extLst>
          </p:cNvPr>
          <p:cNvSpPr txBox="1"/>
          <p:nvPr/>
        </p:nvSpPr>
        <p:spPr>
          <a:xfrm>
            <a:off x="5209152" y="3581999"/>
            <a:ext cx="16060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React.js- dynamic, real-time availability, and analytics dashboards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69ED5-A682-1F77-E559-16C3B6096678}"/>
              </a:ext>
            </a:extLst>
          </p:cNvPr>
          <p:cNvSpPr txBox="1"/>
          <p:nvPr/>
        </p:nvSpPr>
        <p:spPr>
          <a:xfrm>
            <a:off x="7243715" y="3600172"/>
            <a:ext cx="20913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Tailwind CSS modern, respive UI components with utility-first design system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9D3B2-70AD-B3D0-C0CA-06E3378A71C1}"/>
              </a:ext>
            </a:extLst>
          </p:cNvPr>
          <p:cNvSpPr txBox="1"/>
          <p:nvPr/>
        </p:nvSpPr>
        <p:spPr>
          <a:xfrm>
            <a:off x="9391658" y="3600172"/>
            <a:ext cx="19637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Postman for API testing and </a:t>
            </a:r>
            <a:r>
              <a:rPr lang="en-US" dirty="0" err="1"/>
              <a:t>github</a:t>
            </a:r>
            <a:r>
              <a:rPr lang="en-US" dirty="0"/>
              <a:t> for version </a:t>
            </a:r>
            <a:r>
              <a:rPr lang="en-US" dirty="0" err="1"/>
              <a:t>control,CI</a:t>
            </a:r>
            <a:r>
              <a:rPr lang="en-US" dirty="0"/>
              <a:t> CD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62" y="300000"/>
            <a:ext cx="689804" cy="937158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1457323" y="597814"/>
            <a:ext cx="10209783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Implementation</a:t>
            </a:r>
          </a:p>
        </p:txBody>
      </p:sp>
      <p:sp>
        <p:nvSpPr>
          <p:cNvPr id="12" name="Lead"/>
          <p:cNvSpPr txBox="1"/>
          <p:nvPr/>
        </p:nvSpPr>
        <p:spPr>
          <a:xfrm>
            <a:off x="1457323" y="1520000"/>
            <a:ext cx="10209783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"/>
              </a:lnSpc>
            </a:pPr>
            <a:r>
              <a:rPr lang="en-US" sz="1700" b="1" dirty="0">
                <a:solidFill>
                  <a:srgbClr val="0989B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deep-dive: the techniques behind AeroBook’s concurrency, automation, and analytics.</a:t>
            </a:r>
          </a:p>
        </p:txBody>
      </p:sp>
      <p:cxnSp>
        <p:nvCxnSpPr>
          <p:cNvPr id="13" name="Spine"/>
          <p:cNvCxnSpPr/>
          <p:nvPr/>
        </p:nvCxnSpPr>
        <p:spPr>
          <a:xfrm>
            <a:off x="2348448" y="3100000"/>
            <a:ext cx="7232904" cy="0"/>
          </a:xfrm>
          <a:prstGeom prst="line">
            <a:avLst/>
          </a:prstGeom>
          <a:ln w="19050">
            <a:solidFill>
              <a:srgbClr val="008000"/>
            </a:solidFill>
          </a:ln>
        </p:spPr>
      </p:cxnSp>
      <p:sp>
        <p:nvSpPr>
          <p:cNvPr id="14" name="Node0"/>
          <p:cNvSpPr/>
          <p:nvPr/>
        </p:nvSpPr>
        <p:spPr>
          <a:xfrm>
            <a:off x="2088448" y="2840000"/>
            <a:ext cx="520000" cy="52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NodeNum0"/>
          <p:cNvSpPr txBox="1"/>
          <p:nvPr/>
        </p:nvSpPr>
        <p:spPr>
          <a:xfrm>
            <a:off x="2088448" y="2840000"/>
            <a:ext cx="520000" cy="5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6" name="Head0"/>
          <p:cNvSpPr txBox="1"/>
          <p:nvPr/>
        </p:nvSpPr>
        <p:spPr>
          <a:xfrm>
            <a:off x="1298448" y="3430000"/>
            <a:ext cx="21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1</a:t>
            </a:r>
          </a:p>
        </p:txBody>
      </p:sp>
      <p:sp>
        <p:nvSpPr>
          <p:cNvPr id="18" name="Node1"/>
          <p:cNvSpPr/>
          <p:nvPr/>
        </p:nvSpPr>
        <p:spPr>
          <a:xfrm>
            <a:off x="4499416" y="2840000"/>
            <a:ext cx="520000" cy="52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NodeNum1"/>
          <p:cNvSpPr txBox="1"/>
          <p:nvPr/>
        </p:nvSpPr>
        <p:spPr>
          <a:xfrm>
            <a:off x="4499416" y="2840000"/>
            <a:ext cx="520000" cy="5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20" name="Head1"/>
          <p:cNvSpPr txBox="1"/>
          <p:nvPr/>
        </p:nvSpPr>
        <p:spPr>
          <a:xfrm>
            <a:off x="3709416" y="3430000"/>
            <a:ext cx="21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</a:t>
            </a:r>
          </a:p>
        </p:txBody>
      </p:sp>
      <p:sp>
        <p:nvSpPr>
          <p:cNvPr id="22" name="Node2"/>
          <p:cNvSpPr/>
          <p:nvPr/>
        </p:nvSpPr>
        <p:spPr>
          <a:xfrm>
            <a:off x="6910384" y="2840000"/>
            <a:ext cx="520000" cy="52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NodeNum2"/>
          <p:cNvSpPr txBox="1"/>
          <p:nvPr/>
        </p:nvSpPr>
        <p:spPr>
          <a:xfrm>
            <a:off x="6910384" y="2840000"/>
            <a:ext cx="520000" cy="5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24" name="Head2"/>
          <p:cNvSpPr txBox="1"/>
          <p:nvPr/>
        </p:nvSpPr>
        <p:spPr>
          <a:xfrm>
            <a:off x="6120384" y="3430000"/>
            <a:ext cx="21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3</a:t>
            </a:r>
          </a:p>
        </p:txBody>
      </p:sp>
      <p:sp>
        <p:nvSpPr>
          <p:cNvPr id="26" name="Node3"/>
          <p:cNvSpPr/>
          <p:nvPr/>
        </p:nvSpPr>
        <p:spPr>
          <a:xfrm>
            <a:off x="9321352" y="2840000"/>
            <a:ext cx="520000" cy="520000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NodeNum3"/>
          <p:cNvSpPr txBox="1"/>
          <p:nvPr/>
        </p:nvSpPr>
        <p:spPr>
          <a:xfrm>
            <a:off x="9321352" y="2840000"/>
            <a:ext cx="520000" cy="5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28" name="Head3"/>
          <p:cNvSpPr txBox="1"/>
          <p:nvPr/>
        </p:nvSpPr>
        <p:spPr>
          <a:xfrm>
            <a:off x="8531352" y="3430000"/>
            <a:ext cx="21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500" b="1" dirty="0">
                <a:solidFill>
                  <a:srgbClr val="0A3D0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4</a:t>
            </a:r>
          </a:p>
        </p:txBody>
      </p:sp>
      <p:sp>
        <p:nvSpPr>
          <p:cNvPr id="30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420624" y="6019801"/>
            <a:ext cx="457200" cy="184150"/>
          </a:xfrm>
        </p:spPr>
        <p:txBody>
          <a:bodyPr/>
          <a:lstStyle/>
          <a:p>
            <a:fld id="{75DF2D63-3FF5-D547-96B9-BE9CCD1ABA58}" type="slidenum">
              <a:rPr lang="en-US" smtClean="0"/>
              <a:t>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FD105F-44C1-D3CA-4748-EBF319DEA289}"/>
              </a:ext>
            </a:extLst>
          </p:cNvPr>
          <p:cNvSpPr txBox="1"/>
          <p:nvPr/>
        </p:nvSpPr>
        <p:spPr>
          <a:xfrm>
            <a:off x="1609416" y="3778675"/>
            <a:ext cx="210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Laravel </a:t>
            </a:r>
            <a:r>
              <a:rPr lang="en-US" dirty="0" err="1"/>
              <a:t>lockForUpdate</a:t>
            </a:r>
            <a:r>
              <a:rPr lang="en-US" dirty="0"/>
              <a:t>() wraps seat reservation in </a:t>
            </a:r>
            <a:r>
              <a:rPr lang="en-US" dirty="0" err="1"/>
              <a:t>anDB</a:t>
            </a:r>
            <a:r>
              <a:rPr lang="en-US" dirty="0"/>
              <a:t> transaction, preventing race conditions and double-bookings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61A30-419C-091E-80DA-CC7639E203A6}"/>
              </a:ext>
            </a:extLst>
          </p:cNvPr>
          <p:cNvSpPr txBox="1"/>
          <p:nvPr/>
        </p:nvSpPr>
        <p:spPr>
          <a:xfrm>
            <a:off x="4351134" y="3778675"/>
            <a:ext cx="19672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UPDATE trigger fires on flight completion, auto-updating flight hours and inserting maintenance log entries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1C959-A495-5CE6-5124-F3B8845A1E55}"/>
              </a:ext>
            </a:extLst>
          </p:cNvPr>
          <p:cNvSpPr txBox="1"/>
          <p:nvPr/>
        </p:nvSpPr>
        <p:spPr>
          <a:xfrm>
            <a:off x="6779561" y="3778675"/>
            <a:ext cx="25417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Stored procedure aggregates occupancy rates and revenue per flight, enabling sub-millisecond analytics reporting.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D33D1-16BE-44EE-E9BF-8D42B80BAD80}"/>
              </a:ext>
            </a:extLst>
          </p:cNvPr>
          <p:cNvSpPr txBox="1"/>
          <p:nvPr/>
        </p:nvSpPr>
        <p:spPr>
          <a:xfrm>
            <a:off x="9321352" y="3778675"/>
            <a:ext cx="24755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three techniques combined ensure ACID, automation, and high-performance data retrieval across the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78ADB-AD70-DE7C-4643-85C48AE12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03147-27BE-7492-36B6-F405F1156F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951989"/>
            <a:ext cx="6519672" cy="2971800"/>
          </a:xfrm>
        </p:spPr>
        <p:txBody>
          <a:bodyPr/>
          <a:lstStyle/>
          <a:p>
            <a:r>
              <a:rPr lang="en-US" sz="4000" b="1" spc="1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Posterama" panose="020B0504020200020000" pitchFamily="34" charset="0"/>
              </a:rPr>
              <a:t>Thank you</a:t>
            </a:r>
          </a:p>
          <a:p>
            <a:r>
              <a:rPr lang="en-US" sz="1800" spc="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Questions &amp; discussion welcome</a:t>
            </a:r>
            <a:endParaRPr lang="en-US" sz="1800" spc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C6369C-5D52-62E3-F083-072FA6E3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2" y="780288"/>
            <a:ext cx="1207008" cy="163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0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8000"/>
      </a:dk2>
      <a:lt2>
        <a:srgbClr val="E3DED1"/>
      </a:lt2>
      <a:accent1>
        <a:srgbClr val="008000"/>
      </a:accent1>
      <a:accent2>
        <a:srgbClr val="008000"/>
      </a:accent2>
      <a:accent3>
        <a:srgbClr val="C0CF3A"/>
      </a:accent3>
      <a:accent4>
        <a:srgbClr val="008000"/>
      </a:accent4>
      <a:accent5>
        <a:srgbClr val="4AB5C4"/>
      </a:accent5>
      <a:accent6>
        <a:srgbClr val="0989B1"/>
      </a:accent6>
      <a:hlink>
        <a:srgbClr val="008000"/>
      </a:hlink>
      <a:folHlink>
        <a:srgbClr val="BA6906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-Discovery_Win32_EF_v4" id="{D94798B6-E450-4518-8015-6EE17CD1412B}" vid="{16A04E6B-C80A-471C-86D6-D49E9EAD76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746342-5E84-430E-9251-61001F208E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{7F82CCDA-A111-4309-A13D-D6BFE7883514}tf67061901_win32</Template>
  <TotalTime>2921</TotalTime>
  <Words>437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Cambria Math</vt:lpstr>
      <vt:lpstr>Daytona Condensed Light</vt:lpstr>
      <vt:lpstr>Posterama</vt:lpstr>
      <vt:lpstr>Wingdings</vt:lpstr>
      <vt:lpstr>Office Theme</vt:lpstr>
      <vt:lpstr>PowerPoint Presentation</vt:lpstr>
      <vt:lpstr>Overview </vt:lpstr>
      <vt:lpstr>Introduction </vt:lpstr>
      <vt:lpstr>Motivation</vt:lpstr>
      <vt:lpstr>Requirements, Goals &amp;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 UG CSE Program</dc:title>
  <dc:creator>ASUS</dc:creator>
  <cp:lastModifiedBy>Md. Akib</cp:lastModifiedBy>
  <cp:revision>19</cp:revision>
  <dcterms:created xsi:type="dcterms:W3CDTF">2023-10-17T14:04:25Z</dcterms:created>
  <dcterms:modified xsi:type="dcterms:W3CDTF">2026-07-30T02:46:02Z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